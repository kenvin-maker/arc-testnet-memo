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d42ea9dfba4754" /><Relationship Type="http://schemas.openxmlformats.org/officeDocument/2006/relationships/extended-properties" Target="/docProps/app.xml" Id="Re0df055561bb42dd" /><Relationship Type="http://schemas.openxmlformats.org/officeDocument/2006/relationships/officeDocument" Target="/ppt/presentation.xml" Id="R487bdc9974c24c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f96974a25f420e"/>
  </p:sldMasterIdLst>
  <p:notesMasterIdLst>
    <p:notesMasterId xmlns:r="http://schemas.openxmlformats.org/officeDocument/2006/relationships" r:id="Rec76d292d1284020"/>
  </p:notesMasterIdLst>
  <p:sldIdLst>
    <p:sldId xmlns:r="http://schemas.openxmlformats.org/officeDocument/2006/relationships" id="256" r:id="R60b1c774f1f94c7b"/>
    <p:sldId xmlns:r="http://schemas.openxmlformats.org/officeDocument/2006/relationships" id="257" r:id="Rf895bbac864846f7"/>
    <p:sldId xmlns:r="http://schemas.openxmlformats.org/officeDocument/2006/relationships" id="258" r:id="R8b23b7f058474eb7"/>
    <p:sldId xmlns:r="http://schemas.openxmlformats.org/officeDocument/2006/relationships" id="259" r:id="R0f4b47567772414d"/>
    <p:sldId xmlns:r="http://schemas.openxmlformats.org/officeDocument/2006/relationships" id="260" r:id="R1478b8d0cce24416"/>
    <p:sldId xmlns:r="http://schemas.openxmlformats.org/officeDocument/2006/relationships" id="261" r:id="R02d9a7e53ca24c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aa672f1c1473f" /><Relationship Type="http://schemas.openxmlformats.org/officeDocument/2006/relationships/slideMaster" Target="/ppt/slideMasters/slideMaster1.xml" Id="R16f96974a25f420e" /><Relationship Type="http://schemas.openxmlformats.org/officeDocument/2006/relationships/notesMaster" Target="/ppt/notesMasters/notesMaster1.xml" Id="Rec76d292d1284020" /><Relationship Type="http://schemas.openxmlformats.org/officeDocument/2006/relationships/presProps" Target="/ppt/presProps.xml" Id="Rca1746bbe2a740dc" /><Relationship Type="http://schemas.openxmlformats.org/officeDocument/2006/relationships/tableStyles" Target="/ppt/tableStyles.xml" Id="Reaa8850e2992422c" /><Relationship Type="http://schemas.openxmlformats.org/officeDocument/2006/relationships/slide" Target="/ppt/slides/slide1.xml" Id="R60b1c774f1f94c7b" /><Relationship Type="http://schemas.openxmlformats.org/officeDocument/2006/relationships/slide" Target="/ppt/slides/slide2.xml" Id="Rf895bbac864846f7" /><Relationship Type="http://schemas.openxmlformats.org/officeDocument/2006/relationships/slide" Target="/ppt/slides/slide3.xml" Id="R8b23b7f058474eb7" /><Relationship Type="http://schemas.openxmlformats.org/officeDocument/2006/relationships/slide" Target="/ppt/slides/slide4.xml" Id="R0f4b47567772414d" /><Relationship Type="http://schemas.openxmlformats.org/officeDocument/2006/relationships/slide" Target="/ppt/slides/slide5.xml" Id="R1478b8d0cce24416" /><Relationship Type="http://schemas.openxmlformats.org/officeDocument/2006/relationships/slide" Target="/ppt/slides/slide6.xml" Id="R02d9a7e53ca24c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eeb878ff6b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9d261d751b47b7" /><Relationship Type="http://schemas.openxmlformats.org/officeDocument/2006/relationships/notesMaster" Target="/ppt/notesMasters/notesMaster1.xml" Id="R675e577ac46245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6a81651e184513" /><Relationship Type="http://schemas.openxmlformats.org/officeDocument/2006/relationships/notesMaster" Target="/ppt/notesMasters/notesMaster1.xml" Id="R66d22d4e63be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2828d225ad452f" /><Relationship Type="http://schemas.openxmlformats.org/officeDocument/2006/relationships/notesMaster" Target="/ppt/notesMasters/notesMaster1.xml" Id="R6c4e0024355943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59babb6e574b10" /><Relationship Type="http://schemas.openxmlformats.org/officeDocument/2006/relationships/notesMaster" Target="/ppt/notesMasters/notesMaster1.xml" Id="R65dc21418a4d45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a2ad53754f4fb6" /><Relationship Type="http://schemas.openxmlformats.org/officeDocument/2006/relationships/notesMaster" Target="/ppt/notesMasters/notesMaster1.xml" Id="Rf3ffa87ceef847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a9cbf21d34a45" /><Relationship Type="http://schemas.openxmlformats.org/officeDocument/2006/relationships/notesMaster" Target="/ppt/notesMasters/notesMaster1.xml" Id="R801968d75ca94e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78408acb34d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16bcb166724209" /><Relationship Type="http://schemas.openxmlformats.org/officeDocument/2006/relationships/slideLayout" Target="/ppt/slideLayouts/slideLayout1.xml" Id="R914d166eddcc40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4d166eddcc40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ecb18b7ae4063" /><Relationship Type="http://schemas.openxmlformats.org/officeDocument/2006/relationships/notesSlide" Target="/ppt/notesSlides/notesSlide1.xml" Id="Rc1aa4a2bfe2942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8fd397d6348d7" /><Relationship Type="http://schemas.openxmlformats.org/officeDocument/2006/relationships/notesSlide" Target="/ppt/notesSlides/notesSlide2.xml" Id="Rb879613ba4b7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b859de2bf461f" /><Relationship Type="http://schemas.openxmlformats.org/officeDocument/2006/relationships/image" Target="/ppt/media/image.jpeg" Id="R5f3f716a8fec4a84" /><Relationship Type="http://schemas.openxmlformats.org/officeDocument/2006/relationships/notesSlide" Target="/ppt/notesSlides/notesSlide3.xml" Id="R917c84d57208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77005b7b649e9" /><Relationship Type="http://schemas.openxmlformats.org/officeDocument/2006/relationships/notesSlide" Target="/ppt/notesSlides/notesSlide4.xml" Id="Re7350718eb3d40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9d520a53b4847" /><Relationship Type="http://schemas.openxmlformats.org/officeDocument/2006/relationships/image" Target="/ppt/media/image.png" Id="Rd5e2202fedf24219" /><Relationship Type="http://schemas.openxmlformats.org/officeDocument/2006/relationships/notesSlide" Target="/ppt/notesSlides/notesSlide5.xml" Id="R1ac9a9b51b9447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cb67f075842b8" /><Relationship Type="http://schemas.openxmlformats.org/officeDocument/2006/relationships/notesSlide" Target="/ppt/notesSlides/notesSlide6.xml" Id="Re4b31311d7ad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8DE9776-D648-488E-AF30-8F4663C7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-eyebrow">
            <a:extLst xmlns:a="http://schemas.openxmlformats.org/drawingml/2006/main">
              <a:ext uri="{FF2B5EF4-FFF2-40B4-BE49-F238E27FC236}">
                <a16:creationId xmlns:a16="http://schemas.microsoft.com/office/drawing/2014/main" id="{845C8A6C-9FC0-4340-B609-6CAAA83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ARC TESTNET · CIRCLE APP KIT · AGENTIC ECONOMY</a:t>
            </a:r>
          </a:p>
        </p:txBody>
      </p:sp>
      <p:sp>
        <p:nvSpPr>
          <p:cNvPr id="3" name="s1-mark">
            <a:extLst xmlns:a="http://schemas.openxmlformats.org/drawingml/2006/main">
              <a:ext uri="{FF2B5EF4-FFF2-40B4-BE49-F238E27FC236}">
                <a16:creationId xmlns:a16="http://schemas.microsoft.com/office/drawing/2014/main" id="{AD054740-248A-4E08-9676-19E5AB36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55E0D3"/>
          </a:solidFill>
          <a:ln xmlns:a="http://schemas.openxmlformats.org/drawingml/2006/main" w="9525">
            <a:solidFill>
              <a:srgbClr val="55E0D3"/>
            </a:solidFill>
            <a:prstDash val="solid"/>
          </a:ln>
        </p:spPr>
      </p:sp>
      <p:sp>
        <p:nvSpPr>
          <p:cNvPr id="4" name="s1-mark-letter">
            <a:extLst xmlns:a="http://schemas.openxmlformats.org/drawingml/2006/main">
              <a:ext uri="{FF2B5EF4-FFF2-40B4-BE49-F238E27FC236}">
                <a16:creationId xmlns:a16="http://schemas.microsoft.com/office/drawing/2014/main" id="{CE0F7CD9-D507-4FD6-BD79-5C1D784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61A23"/>
                </a:solidFill>
              </a:defRPr>
            </a:pPr>
            <a:r>
              <a:rPr sz="3900" b="1">
                <a:solidFill>
                  <a:srgbClr val="061A23"/>
                </a:solidFill>
              </a:rPr>
              <a:t>A</a:t>
            </a:r>
          </a:p>
        </p:txBody>
      </p:sp>
      <p:sp>
        <p:nvSpPr>
          <p:cNvPr id="5" name="s1-title">
            <a:extLst xmlns:a="http://schemas.openxmlformats.org/drawingml/2006/main">
              <a:ext uri="{FF2B5EF4-FFF2-40B4-BE49-F238E27FC236}">
                <a16:creationId xmlns:a16="http://schemas.microsoft.com/office/drawing/2014/main" id="{933BB000-006E-4AAD-9BFC-07ADFBB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BFC"/>
                </a:solidFill>
              </a:defRPr>
            </a:pPr>
            <a:r>
              <a:rPr sz="4800" b="1">
                <a:solidFill>
                  <a:srgbClr val="F5FBFC"/>
                </a:solidFill>
              </a:rPr>
              <a:t>AgentTreasury Lite</a:t>
            </a:r>
          </a:p>
        </p:txBody>
      </p:sp>
      <p:sp>
        <p:nvSpPr>
          <p:cNvPr id="6" name="s1-subtitle">
            <a:extLst xmlns:a="http://schemas.openxmlformats.org/drawingml/2006/main">
              <a:ext uri="{FF2B5EF4-FFF2-40B4-BE49-F238E27FC236}">
                <a16:creationId xmlns:a16="http://schemas.microsoft.com/office/drawing/2014/main" id="{DC8DD2B4-62FB-4117-984C-8FD42DB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C2C8"/>
                </a:solidFill>
              </a:defRPr>
            </a:pPr>
            <a:r>
              <a:rPr sz="2025" b="0">
                <a:solidFill>
                  <a:srgbClr val="A9C2C8"/>
                </a:solidFill>
              </a:rPr>
              <a:t>Policy-gated USDC settlement for autonomous agents</a:t>
            </a:r>
          </a:p>
        </p:txBody>
      </p:sp>
      <p:sp>
        <p:nvSpPr>
          <p:cNvPr id="7" name="s1-rule">
            <a:extLst xmlns:a="http://schemas.openxmlformats.org/drawingml/2006/main">
              <a:ext uri="{FF2B5EF4-FFF2-40B4-BE49-F238E27FC236}">
                <a16:creationId xmlns:a16="http://schemas.microsoft.com/office/drawing/2014/main" id="{E61832DC-B25E-4F30-8091-2D4A659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-status">
            <a:extLst xmlns:a="http://schemas.openxmlformats.org/drawingml/2006/main">
              <a:ext uri="{FF2B5EF4-FFF2-40B4-BE49-F238E27FC236}">
                <a16:creationId xmlns:a16="http://schemas.microsoft.com/office/drawing/2014/main" id="{332689BE-1973-40D9-A8FD-467674E1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WORKING MVP</a:t>
            </a:r>
          </a:p>
        </p:txBody>
      </p:sp>
      <p:sp>
        <p:nvSpPr>
          <p:cNvPr id="9" name="s1-proof">
            <a:extLst xmlns:a="http://schemas.openxmlformats.org/drawingml/2006/main">
              <a:ext uri="{FF2B5EF4-FFF2-40B4-BE49-F238E27FC236}">
                <a16:creationId xmlns:a16="http://schemas.microsoft.com/office/drawing/2014/main" id="{40F01CFF-7773-42E5-872A-DCFDDB62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BFC"/>
                </a:solidFill>
              </a:defRPr>
            </a:pPr>
            <a:r>
              <a:rPr sz="1500" b="0">
                <a:solidFill>
                  <a:srgbClr val="F5FBFC"/>
                </a:solidFill>
              </a:rPr>
              <a:t>Real App Kit Send · ERC-8004 identity · Public test evidence</a:t>
            </a:r>
          </a:p>
        </p:txBody>
      </p:sp>
      <p:sp>
        <p:nvSpPr>
          <p:cNvPr id="10" name="s1-agent-panel">
            <a:extLst xmlns:a="http://schemas.openxmlformats.org/drawingml/2006/main">
              <a:ext uri="{FF2B5EF4-FFF2-40B4-BE49-F238E27FC236}">
                <a16:creationId xmlns:a16="http://schemas.microsoft.com/office/drawing/2014/main" id="{40C587B9-9DD8-4622-8B7F-FE78157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00025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252E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1" name="s1-agent-id-label">
            <a:extLst xmlns:a="http://schemas.openxmlformats.org/drawingml/2006/main">
              <a:ext uri="{FF2B5EF4-FFF2-40B4-BE49-F238E27FC236}">
                <a16:creationId xmlns:a16="http://schemas.microsoft.com/office/drawing/2014/main" id="{95D5103D-0DAA-45B5-8D0C-652A2EDF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573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E0D3"/>
                </a:solidFill>
              </a:defRPr>
            </a:pPr>
            <a:r>
              <a:rPr sz="1050" b="1">
                <a:solidFill>
                  <a:srgbClr val="55E0D3"/>
                </a:solidFill>
              </a:rPr>
              <a:t>ONCHAIN AGENT</a:t>
            </a:r>
          </a:p>
        </p:txBody>
      </p:sp>
      <p:sp>
        <p:nvSpPr>
          <p:cNvPr id="12" name="s1-agent-glyph">
            <a:extLst xmlns:a="http://schemas.openxmlformats.org/drawingml/2006/main">
              <a:ext uri="{FF2B5EF4-FFF2-40B4-BE49-F238E27FC236}">
                <a16:creationId xmlns:a16="http://schemas.microsoft.com/office/drawing/2014/main" id="{F0310C78-C10B-47B5-93B6-18255D79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55E0D3"/>
                </a:solidFill>
              </a:defRPr>
            </a:pPr>
            <a:r>
              <a:rPr sz="8400" b="1">
                <a:solidFill>
                  <a:srgbClr val="55E0D3"/>
                </a:solidFill>
              </a:rPr>
              <a:t>A</a:t>
            </a:r>
          </a:p>
        </p:txBody>
      </p:sp>
      <p:sp>
        <p:nvSpPr>
          <p:cNvPr id="13" name="s1-agent-id">
            <a:extLst xmlns:a="http://schemas.openxmlformats.org/drawingml/2006/main">
              <a:ext uri="{FF2B5EF4-FFF2-40B4-BE49-F238E27FC236}">
                <a16:creationId xmlns:a16="http://schemas.microsoft.com/office/drawing/2014/main" id="{3D20F1F4-0754-4189-ACE9-E63DFA6A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BFC"/>
                </a:solidFill>
              </a:defRPr>
            </a:pPr>
            <a:r>
              <a:rPr sz="1800" b="1">
                <a:solidFill>
                  <a:srgbClr val="F5FBFC"/>
                </a:solidFill>
              </a:rPr>
              <a:t>ID 851421</a:t>
            </a:r>
          </a:p>
        </p:txBody>
      </p:sp>
      <p:sp>
        <p:nvSpPr>
          <p:cNvPr id="14" name="s1-chain">
            <a:extLst xmlns:a="http://schemas.openxmlformats.org/drawingml/2006/main">
              <a:ext uri="{FF2B5EF4-FFF2-40B4-BE49-F238E27FC236}">
                <a16:creationId xmlns:a16="http://schemas.microsoft.com/office/drawing/2014/main" id="{148E03A2-2006-4E5F-9C80-BDB8200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Arc Testnet</a:t>
            </a:r>
          </a:p>
        </p:txBody>
      </p:sp>
      <p:sp>
        <p:nvSpPr>
          <p:cNvPr id="15" name="s1-date">
            <a:extLst xmlns:a="http://schemas.openxmlformats.org/drawingml/2006/main">
              <a:ext uri="{FF2B5EF4-FFF2-40B4-BE49-F238E27FC236}">
                <a16:creationId xmlns:a16="http://schemas.microsoft.com/office/drawing/2014/main" id="{1361F88A-702F-474F-B25B-302F4E4A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2C8"/>
                </a:solidFill>
              </a:defRPr>
            </a:pPr>
            <a:r>
              <a:rPr sz="1275" b="0">
                <a:solidFill>
                  <a:srgbClr val="A9C2C8"/>
                </a:solidFill>
              </a:rPr>
              <a:t>Checkpoint 2 · July 2026</a:t>
            </a:r>
          </a:p>
        </p:txBody>
      </p:sp>
      <p:sp>
        <p:nvSpPr>
          <p:cNvPr id="16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CA0394FC-9773-468F-93D8-49ACB0FA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ENCODE CHECKPOINT 2 · ARC TESTNET</a:t>
            </a:r>
          </a:p>
        </p:txBody>
      </p:sp>
      <p:sp>
        <p:nvSpPr>
          <p:cNvPr id="1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83ACD913-6E3B-4195-9ED8-E6C0B4F8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3978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">
            <a:extLst xmlns:a="http://schemas.openxmlformats.org/drawingml/2006/main">
              <a:ext uri="{FF2B5EF4-FFF2-40B4-BE49-F238E27FC236}">
                <a16:creationId xmlns:a16="http://schemas.microsoft.com/office/drawing/2014/main" id="{A81FE7BF-5B36-42AD-8769-A171107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WHY THIS MATTERS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077309E-71C6-4D3C-B04B-49CB03E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Agents need spending power — with boundaries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61816A1-64C6-4680-9CA8-C78E975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B2BAA370-09DC-44FD-AE99-0E67228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C969"/>
                </a:solidFill>
              </a:defRPr>
            </a:pPr>
            <a:r>
              <a:rPr sz="1200" b="1">
                <a:solidFill>
                  <a:srgbClr val="F3C969"/>
                </a:solidFill>
              </a:rPr>
              <a:t>UNCONTROLLED WALLET</a:t>
            </a:r>
          </a:p>
        </p:txBody>
      </p:sp>
      <p:sp>
        <p:nvSpPr>
          <p:cNvPr id="5" name="s2-left-title">
            <a:extLst xmlns:a="http://schemas.openxmlformats.org/drawingml/2006/main">
              <a:ext uri="{FF2B5EF4-FFF2-40B4-BE49-F238E27FC236}">
                <a16:creationId xmlns:a16="http://schemas.microsoft.com/office/drawing/2014/main" id="{2E45E1E2-A22D-42FC-A57B-3D7489C7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619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BFC"/>
                </a:solidFill>
              </a:defRPr>
            </a:pPr>
            <a:r>
              <a:rPr sz="2175" b="1">
                <a:solidFill>
                  <a:srgbClr val="F5FBFC"/>
                </a:solidFill>
              </a:rPr>
              <a:t>A transaction request alone is not a treasury policy.</a:t>
            </a:r>
          </a:p>
        </p:txBody>
      </p:sp>
      <p:sp>
        <p:nvSpPr>
          <p:cNvPr id="6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9B0FCBE9-D35D-42F5-A264-13CCEDB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524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2C8"/>
                </a:solidFill>
              </a:defRPr>
            </a:pPr>
            <a:r>
              <a:rPr sz="1425" b="0">
                <a:solidFill>
                  <a:srgbClr val="A9C2C8"/>
                </a:solidFill>
              </a:rPr>
              <a:t>Without explicit controls, an agent cannot prove why a payment was allowed, whether reserves were protected, or who authorized execution.</a:t>
            </a:r>
          </a:p>
        </p:txBody>
      </p:sp>
      <p:sp>
        <p:nvSpPr>
          <p:cNvPr id="7" name="s2-arrow">
            <a:extLst xmlns:a="http://schemas.openxmlformats.org/drawingml/2006/main">
              <a:ext uri="{FF2B5EF4-FFF2-40B4-BE49-F238E27FC236}">
                <a16:creationId xmlns:a16="http://schemas.microsoft.com/office/drawing/2014/main" id="{1891D19A-C3FA-4D2B-9C85-70613BA9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99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55E0D3"/>
                </a:solidFill>
              </a:defRPr>
            </a:pPr>
            <a:r>
              <a:rPr sz="4350" b="1">
                <a:solidFill>
                  <a:srgbClr val="55E0D3"/>
                </a:solidFill>
              </a:rPr>
              <a:t>→</a:t>
            </a:r>
          </a:p>
        </p:txBody>
      </p:sp>
      <p:sp>
        <p:nvSpPr>
          <p:cNvPr id="8" name="s2-right">
            <a:extLst xmlns:a="http://schemas.openxmlformats.org/drawingml/2006/main">
              <a:ext uri="{FF2B5EF4-FFF2-40B4-BE49-F238E27FC236}">
                <a16:creationId xmlns:a16="http://schemas.microsoft.com/office/drawing/2014/main" id="{CDC40B6A-B50A-43F7-A656-3DD1CA7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4762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9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635691A2-89AF-49C1-8BB5-129AA3A0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AGENTTREASURY LITE</a:t>
            </a:r>
          </a:p>
        </p:txBody>
      </p:sp>
      <p:sp>
        <p:nvSpPr>
          <p:cNvPr id="10" name="s2-right-title">
            <a:extLst xmlns:a="http://schemas.openxmlformats.org/drawingml/2006/main">
              <a:ext uri="{FF2B5EF4-FFF2-40B4-BE49-F238E27FC236}">
                <a16:creationId xmlns:a16="http://schemas.microsoft.com/office/drawing/2014/main" id="{95BEFC9B-9BD0-4661-B22C-DF7B80D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BFC"/>
                </a:solidFill>
              </a:defRPr>
            </a:pPr>
            <a:r>
              <a:rPr sz="2175" b="1">
                <a:solidFill>
                  <a:srgbClr val="F5FBFC"/>
                </a:solidFill>
              </a:rPr>
              <a:t>Decision logic comes before the wallet signature.</a:t>
            </a:r>
          </a:p>
        </p:txBody>
      </p:sp>
      <p:sp>
        <p:nvSpPr>
          <p:cNvPr id="11" name="s2-c1">
            <a:extLst xmlns:a="http://schemas.openxmlformats.org/drawingml/2006/main">
              <a:ext uri="{FF2B5EF4-FFF2-40B4-BE49-F238E27FC236}">
                <a16:creationId xmlns:a16="http://schemas.microsoft.com/office/drawing/2014/main" id="{E99B44EC-9A30-43AE-8AFA-8305BE3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Allowlisted recipient</a:t>
            </a:r>
          </a:p>
        </p:txBody>
      </p:sp>
      <p:sp>
        <p:nvSpPr>
          <p:cNvPr id="12" name="s2-c2">
            <a:extLst xmlns:a="http://schemas.openxmlformats.org/drawingml/2006/main">
              <a:ext uri="{FF2B5EF4-FFF2-40B4-BE49-F238E27FC236}">
                <a16:creationId xmlns:a16="http://schemas.microsoft.com/office/drawing/2014/main" id="{A36B082A-A0BA-49BE-B2A9-8B090CF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Maximum payment</a:t>
            </a:r>
          </a:p>
        </p:txBody>
      </p:sp>
      <p:sp>
        <p:nvSpPr>
          <p:cNvPr id="13" name="s2-c3">
            <a:extLst xmlns:a="http://schemas.openxmlformats.org/drawingml/2006/main">
              <a:ext uri="{FF2B5EF4-FFF2-40B4-BE49-F238E27FC236}">
                <a16:creationId xmlns:a16="http://schemas.microsoft.com/office/drawing/2014/main" id="{9BBD2C06-4343-4D5F-A7F6-AC1BE7B7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38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Minimum reserve</a:t>
            </a:r>
          </a:p>
        </p:txBody>
      </p:sp>
      <p:sp>
        <p:nvSpPr>
          <p:cNvPr id="14" name="s2-c4">
            <a:extLst xmlns:a="http://schemas.openxmlformats.org/drawingml/2006/main">
              <a:ext uri="{FF2B5EF4-FFF2-40B4-BE49-F238E27FC236}">
                <a16:creationId xmlns:a16="http://schemas.microsoft.com/office/drawing/2014/main" id="{48407533-E146-4CA0-B642-40DB3135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385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E2A5"/>
                </a:solidFill>
              </a:defRPr>
            </a:pPr>
            <a:r>
              <a:rPr sz="1350" b="1">
                <a:solidFill>
                  <a:srgbClr val="5DE2A5"/>
                </a:solidFill>
              </a:rPr>
              <a:t>✓ Invoice ID required</a:t>
            </a:r>
          </a:p>
        </p:txBody>
      </p:sp>
      <p:sp>
        <p:nvSpPr>
          <p:cNvPr id="15" name="s2-boundary">
            <a:extLst xmlns:a="http://schemas.openxmlformats.org/drawingml/2006/main">
              <a:ext uri="{FF2B5EF4-FFF2-40B4-BE49-F238E27FC236}">
                <a16:creationId xmlns:a16="http://schemas.microsoft.com/office/drawing/2014/main" id="{A20D654D-79C3-44F9-9E82-2B7CA0B8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BFC"/>
                </a:solidFill>
              </a:defRPr>
            </a:pPr>
            <a:r>
              <a:rPr sz="1350" b="1">
                <a:solidFill>
                  <a:srgbClr val="F5FBFC"/>
                </a:solidFill>
              </a:rPr>
              <a:t>MetaMask remains the final human authorization boundary.</a:t>
            </a:r>
          </a:p>
        </p:txBody>
      </p:sp>
      <p:sp>
        <p:nvSpPr>
          <p:cNvPr id="16" name="s2-bottom-rule">
            <a:extLst xmlns:a="http://schemas.openxmlformats.org/drawingml/2006/main">
              <a:ext uri="{FF2B5EF4-FFF2-40B4-BE49-F238E27FC236}">
                <a16:creationId xmlns:a16="http://schemas.microsoft.com/office/drawing/2014/main" id="{48A361CB-B203-4CDF-8E3B-1B649C3B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3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bottom">
            <a:extLst xmlns:a="http://schemas.openxmlformats.org/drawingml/2006/main">
              <a:ext uri="{FF2B5EF4-FFF2-40B4-BE49-F238E27FC236}">
                <a16:creationId xmlns:a16="http://schemas.microsoft.com/office/drawing/2014/main" id="{B44BBCE9-F1F4-40F6-979B-B11B357A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53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BFC"/>
                </a:solidFill>
              </a:defRPr>
            </a:pPr>
            <a:r>
              <a:rPr sz="1800" b="1">
                <a:solidFill>
                  <a:srgbClr val="F5FBFC"/>
                </a:solidFill>
              </a:rPr>
              <a:t>Result: explainable approval, manual authorization, and public settlement evidence.</a:t>
            </a:r>
          </a:p>
        </p:txBody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4295BF6-AE10-4B01-8237-3D93CDCD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ENCODE CHECKPOINT 2 · ARC TESTNET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D038F2A-40CC-4C94-BCEC-7CD0A1E8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9144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3">
            <a:extLst xmlns:a="http://schemas.openxmlformats.org/drawingml/2006/main">
              <a:ext uri="{FF2B5EF4-FFF2-40B4-BE49-F238E27FC236}">
                <a16:creationId xmlns:a16="http://schemas.microsoft.com/office/drawing/2014/main" id="{07027FCE-66EF-465D-A1D6-4EB97539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WORKING PRODUCT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086EB3C-ACBE-4095-8729-461C7DAA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The MVP turns a payment request into verifiable settlement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2F5BEEA7-627B-46AB-9225-EFF1DC32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3-step-0">
            <a:extLst xmlns:a="http://schemas.openxmlformats.org/drawingml/2006/main">
              <a:ext uri="{FF2B5EF4-FFF2-40B4-BE49-F238E27FC236}">
                <a16:creationId xmlns:a16="http://schemas.microsoft.com/office/drawing/2014/main" id="{E4521126-FB89-4C88-9318-41EFC78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5" name="s3-num-0">
            <a:extLst xmlns:a="http://schemas.openxmlformats.org/drawingml/2006/main">
              <a:ext uri="{FF2B5EF4-FFF2-40B4-BE49-F238E27FC236}">
                <a16:creationId xmlns:a16="http://schemas.microsoft.com/office/drawing/2014/main" id="{9914B650-D646-4A6A-8E08-CDBB0E4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01</a:t>
            </a:r>
          </a:p>
        </p:txBody>
      </p:sp>
      <p:sp>
        <p:nvSpPr>
          <p:cNvPr id="6" name="s3-name-0">
            <a:extLst xmlns:a="http://schemas.openxmlformats.org/drawingml/2006/main">
              <a:ext uri="{FF2B5EF4-FFF2-40B4-BE49-F238E27FC236}">
                <a16:creationId xmlns:a16="http://schemas.microsoft.com/office/drawing/2014/main" id="{1269B27E-2CED-4CDA-958B-9F2B7DE3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REQUEST</a:t>
            </a:r>
          </a:p>
        </p:txBody>
      </p:sp>
      <p:sp>
        <p:nvSpPr>
          <p:cNvPr id="7" name="s3-desc-0">
            <a:extLst xmlns:a="http://schemas.openxmlformats.org/drawingml/2006/main">
              <a:ext uri="{FF2B5EF4-FFF2-40B4-BE49-F238E27FC236}">
                <a16:creationId xmlns:a16="http://schemas.microsoft.com/office/drawing/2014/main" id="{CA7F801D-471C-4CD8-908A-AFE200B3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Recipient, amount, invoice</a:t>
            </a:r>
          </a:p>
        </p:txBody>
      </p:sp>
      <p:sp>
        <p:nvSpPr>
          <p:cNvPr id="8" name="s3-step-1">
            <a:extLst xmlns:a="http://schemas.openxmlformats.org/drawingml/2006/main">
              <a:ext uri="{FF2B5EF4-FFF2-40B4-BE49-F238E27FC236}">
                <a16:creationId xmlns:a16="http://schemas.microsoft.com/office/drawing/2014/main" id="{BF36BDC0-6DF3-4503-8679-87EA5AE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3942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9" name="s3-num-1">
            <a:extLst xmlns:a="http://schemas.openxmlformats.org/drawingml/2006/main">
              <a:ext uri="{FF2B5EF4-FFF2-40B4-BE49-F238E27FC236}">
                <a16:creationId xmlns:a16="http://schemas.microsoft.com/office/drawing/2014/main" id="{30FA318C-F939-4FF5-945D-80A2DB30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02</a:t>
            </a:r>
          </a:p>
        </p:txBody>
      </p:sp>
      <p:sp>
        <p:nvSpPr>
          <p:cNvPr id="10" name="s3-name-1">
            <a:extLst xmlns:a="http://schemas.openxmlformats.org/drawingml/2006/main">
              <a:ext uri="{FF2B5EF4-FFF2-40B4-BE49-F238E27FC236}">
                <a16:creationId xmlns:a16="http://schemas.microsoft.com/office/drawing/2014/main" id="{03C00977-11FB-48B6-A71D-85E61680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DECIDE</a:t>
            </a:r>
          </a:p>
        </p:txBody>
      </p:sp>
      <p:sp>
        <p:nvSpPr>
          <p:cNvPr id="11" name="s3-desc-1">
            <a:extLst xmlns:a="http://schemas.openxmlformats.org/drawingml/2006/main">
              <a:ext uri="{FF2B5EF4-FFF2-40B4-BE49-F238E27FC236}">
                <a16:creationId xmlns:a16="http://schemas.microsoft.com/office/drawing/2014/main" id="{38F3107F-4F45-455F-8DC6-BE4EE61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Policy returns approve / reject</a:t>
            </a:r>
          </a:p>
        </p:txBody>
      </p:sp>
      <p:sp>
        <p:nvSpPr>
          <p:cNvPr id="12" name="s3-step-2">
            <a:extLst xmlns:a="http://schemas.openxmlformats.org/drawingml/2006/main">
              <a:ext uri="{FF2B5EF4-FFF2-40B4-BE49-F238E27FC236}">
                <a16:creationId xmlns:a16="http://schemas.microsoft.com/office/drawing/2014/main" id="{D67CB155-98B3-47AD-9F49-6192CE20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3" name="s3-num-2">
            <a:extLst xmlns:a="http://schemas.openxmlformats.org/drawingml/2006/main">
              <a:ext uri="{FF2B5EF4-FFF2-40B4-BE49-F238E27FC236}">
                <a16:creationId xmlns:a16="http://schemas.microsoft.com/office/drawing/2014/main" id="{04A8E917-8D93-49B8-BA7F-4E898205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03</a:t>
            </a:r>
          </a:p>
        </p:txBody>
      </p:sp>
      <p:sp>
        <p:nvSpPr>
          <p:cNvPr id="14" name="s3-name-2">
            <a:extLst xmlns:a="http://schemas.openxmlformats.org/drawingml/2006/main">
              <a:ext uri="{FF2B5EF4-FFF2-40B4-BE49-F238E27FC236}">
                <a16:creationId xmlns:a16="http://schemas.microsoft.com/office/drawing/2014/main" id="{00D52FBB-46DC-4D38-B36B-D8AFE16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AUTHORIZE</a:t>
            </a:r>
          </a:p>
        </p:txBody>
      </p:sp>
      <p:sp>
        <p:nvSpPr>
          <p:cNvPr id="15" name="s3-desc-2">
            <a:extLst xmlns:a="http://schemas.openxmlformats.org/drawingml/2006/main">
              <a:ext uri="{FF2B5EF4-FFF2-40B4-BE49-F238E27FC236}">
                <a16:creationId xmlns:a16="http://schemas.microsoft.com/office/drawing/2014/main" id="{CE73F7C8-FB79-4E16-B6C1-ED5D57D9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Human reviews in MetaMask</a:t>
            </a:r>
          </a:p>
        </p:txBody>
      </p:sp>
      <p:sp>
        <p:nvSpPr>
          <p:cNvPr id="16" name="s3-step-3">
            <a:extLst xmlns:a="http://schemas.openxmlformats.org/drawingml/2006/main">
              <a:ext uri="{FF2B5EF4-FFF2-40B4-BE49-F238E27FC236}">
                <a16:creationId xmlns:a16="http://schemas.microsoft.com/office/drawing/2014/main" id="{708465D8-6754-4B6A-9CAB-F318850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2609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7" name="s3-num-3">
            <a:extLst xmlns:a="http://schemas.openxmlformats.org/drawingml/2006/main">
              <a:ext uri="{FF2B5EF4-FFF2-40B4-BE49-F238E27FC236}">
                <a16:creationId xmlns:a16="http://schemas.microsoft.com/office/drawing/2014/main" id="{DC0BE11F-03B4-4F8B-A040-DB5AFA98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04</a:t>
            </a:r>
          </a:p>
        </p:txBody>
      </p:sp>
      <p:sp>
        <p:nvSpPr>
          <p:cNvPr id="18" name="s3-name-3">
            <a:extLst xmlns:a="http://schemas.openxmlformats.org/drawingml/2006/main">
              <a:ext uri="{FF2B5EF4-FFF2-40B4-BE49-F238E27FC236}">
                <a16:creationId xmlns:a16="http://schemas.microsoft.com/office/drawing/2014/main" id="{E69DAB97-4550-4465-BD16-A3E9F54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SETTLE</a:t>
            </a:r>
          </a:p>
        </p:txBody>
      </p:sp>
      <p:sp>
        <p:nvSpPr>
          <p:cNvPr id="19" name="s3-desc-3">
            <a:extLst xmlns:a="http://schemas.openxmlformats.org/drawingml/2006/main">
              <a:ext uri="{FF2B5EF4-FFF2-40B4-BE49-F238E27FC236}">
                <a16:creationId xmlns:a16="http://schemas.microsoft.com/office/drawing/2014/main" id="{9B82A770-6C99-4C1D-BF58-62743F0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98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2C8"/>
                </a:solidFill>
              </a:defRPr>
            </a:pPr>
            <a:r>
              <a:rPr sz="1125" b="0">
                <a:solidFill>
                  <a:srgbClr val="A9C2C8"/>
                </a:solidFill>
              </a:rPr>
              <a:t>App Kit Send → ArcScan</a:t>
            </a:r>
          </a:p>
        </p:txBody>
      </p:sp>
      <p:sp>
        <p:nvSpPr>
          <p:cNvPr id="20" name="s3-copy-panel">
            <a:extLst xmlns:a="http://schemas.openxmlformats.org/drawingml/2006/main">
              <a:ext uri="{FF2B5EF4-FFF2-40B4-BE49-F238E27FC236}">
                <a16:creationId xmlns:a16="http://schemas.microsoft.com/office/drawing/2014/main" id="{F0884914-3316-49DB-BB93-296E9C8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619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21" name="s3-copy-label">
            <a:extLst xmlns:a="http://schemas.openxmlformats.org/drawingml/2006/main">
              <a:ext uri="{FF2B5EF4-FFF2-40B4-BE49-F238E27FC236}">
                <a16:creationId xmlns:a16="http://schemas.microsoft.com/office/drawing/2014/main" id="{7858A9D0-EB29-4D74-914F-49E4DBB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LIVE POLICY</a:t>
            </a:r>
          </a:p>
        </p:txBody>
      </p:sp>
      <p:sp>
        <p:nvSpPr>
          <p:cNvPr id="22" name="s3-copy-title">
            <a:extLst xmlns:a="http://schemas.openxmlformats.org/drawingml/2006/main">
              <a:ext uri="{FF2B5EF4-FFF2-40B4-BE49-F238E27FC236}">
                <a16:creationId xmlns:a16="http://schemas.microsoft.com/office/drawing/2014/main" id="{D7ABD0CF-8713-4962-808D-BAC671AE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BFC"/>
                </a:solidFill>
              </a:defRPr>
            </a:pPr>
            <a:r>
              <a:rPr sz="1950" b="1">
                <a:solidFill>
                  <a:srgbClr val="F5FBFC"/>
                </a:solidFill>
              </a:rPr>
              <a:t>Default request: 0.01 USDC</a:t>
            </a:r>
          </a:p>
        </p:txBody>
      </p:sp>
      <p:sp>
        <p:nvSpPr>
          <p:cNvPr id="23" name="s3-copy-body">
            <a:extLst xmlns:a="http://schemas.openxmlformats.org/drawingml/2006/main">
              <a:ext uri="{FF2B5EF4-FFF2-40B4-BE49-F238E27FC236}">
                <a16:creationId xmlns:a16="http://schemas.microsoft.com/office/drawing/2014/main" id="{A9AD0C47-8147-4248-990A-17E87D1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The browser checks the expected Arc network, wallet, spendable balance, allowlist, payment cap, reserve floor, and invoice reference before enabling execution.</a:t>
            </a:r>
          </a:p>
        </p:txBody>
      </p:sp>
      <p:sp>
        <p:nvSpPr>
          <p:cNvPr id="24" name="s3-copy-note">
            <a:extLst xmlns:a="http://schemas.openxmlformats.org/drawingml/2006/main">
              <a:ext uri="{FF2B5EF4-FFF2-40B4-BE49-F238E27FC236}">
                <a16:creationId xmlns:a16="http://schemas.microsoft.com/office/drawing/2014/main" id="{FC772326-E085-4211-B825-C0AFBDB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E2A5"/>
                </a:solidFill>
              </a:defRPr>
            </a:pPr>
            <a:r>
              <a:rPr sz="1275" b="1">
                <a:solidFill>
                  <a:srgbClr val="5DE2A5"/>
                </a:solidFill>
              </a:rPr>
              <a:t>Private keys never leave MetaMask.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f716a8fec4a84"/>
          <a:stretch xmlns:a="http://schemas.openxmlformats.org/drawingml/2006/main"/>
        </p:blipFill>
        <p:spPr>
          <a:xfrm xmlns:a="http://schemas.openxmlformats.org/drawingml/2006/main">
            <a:off x="6155337" y="3143250"/>
            <a:ext cx="3462726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2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41B51339-DC5C-492E-8949-30C1E48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ENCODE CHECKPOINT 2 · ARC TESTNET</a:t>
            </a:r>
          </a:p>
        </p:txBody>
      </p:sp>
      <p:sp>
        <p:nvSpPr>
          <p:cNvPr id="2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8900E18-BEB3-42F6-BBE9-E114334D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0010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4">
            <a:extLst xmlns:a="http://schemas.openxmlformats.org/drawingml/2006/main">
              <a:ext uri="{FF2B5EF4-FFF2-40B4-BE49-F238E27FC236}">
                <a16:creationId xmlns:a16="http://schemas.microsoft.com/office/drawing/2014/main" id="{00DCF493-1F45-4C0A-B4FB-F1ED16B0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ARC + CIRCLE INTEGRATION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344FD57-91BD-4124-A445-1A16227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One decision layer, several verified settlement primitives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36B86FF-C2F1-4F44-AD60-D43F146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4-foundation-label">
            <a:extLst xmlns:a="http://schemas.openxmlformats.org/drawingml/2006/main">
              <a:ext uri="{FF2B5EF4-FFF2-40B4-BE49-F238E27FC236}">
                <a16:creationId xmlns:a16="http://schemas.microsoft.com/office/drawing/2014/main" id="{670CB598-0C12-488D-9924-4F54F32C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FOUNDATION</a:t>
            </a:r>
          </a:p>
        </p:txBody>
      </p:sp>
      <p:sp>
        <p:nvSpPr>
          <p:cNvPr id="5" name="s4-foundation">
            <a:extLst xmlns:a="http://schemas.openxmlformats.org/drawingml/2006/main">
              <a:ext uri="{FF2B5EF4-FFF2-40B4-BE49-F238E27FC236}">
                <a16:creationId xmlns:a16="http://schemas.microsoft.com/office/drawing/2014/main" id="{5514E8A3-D985-495A-87B5-79767F0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Arc Testnet</a:t>
            </a:r>
          </a:p>
          <a:p xmlns:a="http://schemas.openxmlformats.org/drawingml/2006/main">
            <a:pPr algn="l"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USDC-denominated gas</a:t>
            </a:r>
          </a:p>
          <a:p xmlns:a="http://schemas.openxmlformats.org/drawingml/2006/main">
            <a:pPr algn="l"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Sub-second settlement</a:t>
            </a:r>
          </a:p>
        </p:txBody>
      </p:sp>
      <p:sp>
        <p:nvSpPr>
          <p:cNvPr id="6" name="s4-center-arrow-1">
            <a:extLst xmlns:a="http://schemas.openxmlformats.org/drawingml/2006/main">
              <a:ext uri="{FF2B5EF4-FFF2-40B4-BE49-F238E27FC236}">
                <a16:creationId xmlns:a16="http://schemas.microsoft.com/office/drawing/2014/main" id="{A8B81131-248C-46F6-80CD-165B17A9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55E0D3"/>
                </a:solidFill>
              </a:defRPr>
            </a:pPr>
            <a:r>
              <a:rPr sz="3150" b="1">
                <a:solidFill>
                  <a:srgbClr val="55E0D3"/>
                </a:solidFill>
              </a:rPr>
              <a:t>→</a:t>
            </a:r>
          </a:p>
        </p:txBody>
      </p:sp>
      <p:sp>
        <p:nvSpPr>
          <p:cNvPr id="7" name="s4-agent">
            <a:extLst xmlns:a="http://schemas.openxmlformats.org/drawingml/2006/main">
              <a:ext uri="{FF2B5EF4-FFF2-40B4-BE49-F238E27FC236}">
                <a16:creationId xmlns:a16="http://schemas.microsoft.com/office/drawing/2014/main" id="{02C81167-0E16-4971-BEF1-53CC321D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3942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8" name="s4-agent-label">
            <a:extLst xmlns:a="http://schemas.openxmlformats.org/drawingml/2006/main">
              <a:ext uri="{FF2B5EF4-FFF2-40B4-BE49-F238E27FC236}">
                <a16:creationId xmlns:a16="http://schemas.microsoft.com/office/drawing/2014/main" id="{A654198C-1388-46A6-A5EE-4363AA9C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DECISION LAYER</a:t>
            </a:r>
          </a:p>
        </p:txBody>
      </p:sp>
      <p:sp>
        <p:nvSpPr>
          <p:cNvPr id="9" name="s4-agent-title">
            <a:extLst xmlns:a="http://schemas.openxmlformats.org/drawingml/2006/main">
              <a:ext uri="{FF2B5EF4-FFF2-40B4-BE49-F238E27FC236}">
                <a16:creationId xmlns:a16="http://schemas.microsoft.com/office/drawing/2014/main" id="{0934C41F-AF5E-4EA7-B178-6EFF061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BFC"/>
                </a:solidFill>
              </a:defRPr>
            </a:pPr>
            <a:r>
              <a:rPr sz="2100" b="1">
                <a:solidFill>
                  <a:srgbClr val="F5FBFC"/>
                </a:solidFill>
              </a:rPr>
              <a:t>AgentTreasury Lite</a:t>
            </a:r>
          </a:p>
        </p:txBody>
      </p:sp>
      <p:sp>
        <p:nvSpPr>
          <p:cNvPr id="10" name="s4-agent-body">
            <a:extLst xmlns:a="http://schemas.openxmlformats.org/drawingml/2006/main">
              <a:ext uri="{FF2B5EF4-FFF2-40B4-BE49-F238E27FC236}">
                <a16:creationId xmlns:a16="http://schemas.microsoft.com/office/drawing/2014/main" id="{32AA077C-2639-4680-94C9-9B7D5542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Policy engine + human authorization boundary</a:t>
            </a:r>
          </a:p>
        </p:txBody>
      </p:sp>
      <p:sp>
        <p:nvSpPr>
          <p:cNvPr id="11" name="s4-center-arrow-2">
            <a:extLst xmlns:a="http://schemas.openxmlformats.org/drawingml/2006/main">
              <a:ext uri="{FF2B5EF4-FFF2-40B4-BE49-F238E27FC236}">
                <a16:creationId xmlns:a16="http://schemas.microsoft.com/office/drawing/2014/main" id="{EE2E0DAD-3465-4933-9F10-FD27B97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55E0D3"/>
                </a:solidFill>
              </a:defRPr>
            </a:pPr>
            <a:r>
              <a:rPr sz="3150" b="1">
                <a:solidFill>
                  <a:srgbClr val="55E0D3"/>
                </a:solidFill>
              </a:rPr>
              <a:t>→</a:t>
            </a:r>
          </a:p>
        </p:txBody>
      </p:sp>
      <p:sp>
        <p:nvSpPr>
          <p:cNvPr id="12" name="s4-product-label">
            <a:extLst xmlns:a="http://schemas.openxmlformats.org/drawingml/2006/main">
              <a:ext uri="{FF2B5EF4-FFF2-40B4-BE49-F238E27FC236}">
                <a16:creationId xmlns:a16="http://schemas.microsoft.com/office/drawing/2014/main" id="{8D1EBB5C-2D15-4AEC-93F4-FF3BD121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E2A5"/>
                </a:solidFill>
              </a:defRPr>
            </a:pPr>
            <a:r>
              <a:rPr sz="1125" b="1">
                <a:solidFill>
                  <a:srgbClr val="5DE2A5"/>
                </a:solidFill>
              </a:rPr>
              <a:t>BROWSER MVP</a:t>
            </a:r>
          </a:p>
        </p:txBody>
      </p:sp>
      <p:sp>
        <p:nvSpPr>
          <p:cNvPr id="13" name="s4-product">
            <a:extLst xmlns:a="http://schemas.openxmlformats.org/drawingml/2006/main">
              <a:ext uri="{FF2B5EF4-FFF2-40B4-BE49-F238E27FC236}">
                <a16:creationId xmlns:a16="http://schemas.microsoft.com/office/drawing/2014/main" id="{33CF0F85-4304-41F6-A8E9-D0C47F63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Circle App Kit Send</a:t>
            </a:r>
          </a:p>
          <a:p xmlns:a="http://schemas.openxmlformats.org/drawingml/2006/main">
            <a:pPr algn="l"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MetaMask authorization</a:t>
            </a:r>
          </a:p>
          <a:p xmlns:a="http://schemas.openxmlformats.org/drawingml/2006/main">
            <a:pPr algn="l">
              <a:defRPr sz="1650" b="1">
                <a:solidFill>
                  <a:srgbClr val="F5FBFC"/>
                </a:solidFill>
              </a:defRPr>
            </a:pPr>
            <a:r>
              <a:rPr sz="1650" b="1">
                <a:solidFill>
                  <a:srgbClr val="F5FBFC"/>
                </a:solidFill>
              </a:rPr>
              <a:t>ArcScan receipt</a:t>
            </a:r>
          </a:p>
        </p:txBody>
      </p:sp>
      <p:sp>
        <p:nvSpPr>
          <p:cNvPr id="14" name="s4-separator">
            <a:extLst xmlns:a="http://schemas.openxmlformats.org/drawingml/2006/main">
              <a:ext uri="{FF2B5EF4-FFF2-40B4-BE49-F238E27FC236}">
                <a16:creationId xmlns:a16="http://schemas.microsoft.com/office/drawing/2014/main" id="{0EBD9A26-5241-430F-9322-872E5AA0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4-exp-label">
            <a:extLst xmlns:a="http://schemas.openxmlformats.org/drawingml/2006/main">
              <a:ext uri="{FF2B5EF4-FFF2-40B4-BE49-F238E27FC236}">
                <a16:creationId xmlns:a16="http://schemas.microsoft.com/office/drawing/2014/main" id="{7915630B-42DB-4D6A-9592-C25C9FCD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SEPARATE VERIFIED ARC EXPERIMENTS</a:t>
            </a:r>
          </a:p>
        </p:txBody>
      </p:sp>
      <p:sp>
        <p:nvSpPr>
          <p:cNvPr id="16" name="s4-exp-note">
            <a:extLst xmlns:a="http://schemas.openxmlformats.org/drawingml/2006/main">
              <a:ext uri="{FF2B5EF4-FFF2-40B4-BE49-F238E27FC236}">
                <a16:creationId xmlns:a16="http://schemas.microsoft.com/office/drawing/2014/main" id="{39ADEFD8-71DD-4C15-AC83-9A0687A6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These prove additional settlement paths; they are not presented as one combined browser transaction.</a:t>
            </a:r>
          </a:p>
        </p:txBody>
      </p:sp>
      <p:sp>
        <p:nvSpPr>
          <p:cNvPr id="17" name="s4-memo">
            <a:extLst xmlns:a="http://schemas.openxmlformats.org/drawingml/2006/main">
              <a:ext uri="{FF2B5EF4-FFF2-40B4-BE49-F238E27FC236}">
                <a16:creationId xmlns:a16="http://schemas.microsoft.com/office/drawing/2014/main" id="{AD22BBB2-96AC-4EBA-9000-4932E36D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8" name="s4-memo-title">
            <a:extLst xmlns:a="http://schemas.openxmlformats.org/drawingml/2006/main">
              <a:ext uri="{FF2B5EF4-FFF2-40B4-BE49-F238E27FC236}">
                <a16:creationId xmlns:a16="http://schemas.microsoft.com/office/drawing/2014/main" id="{D56178E4-C65E-4CA4-8980-CA23CFEF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Official Memo</a:t>
            </a:r>
          </a:p>
        </p:txBody>
      </p:sp>
      <p:sp>
        <p:nvSpPr>
          <p:cNvPr id="19" name="s4-memo-body">
            <a:extLst xmlns:a="http://schemas.openxmlformats.org/drawingml/2006/main">
              <a:ext uri="{FF2B5EF4-FFF2-40B4-BE49-F238E27FC236}">
                <a16:creationId xmlns:a16="http://schemas.microsoft.com/office/drawing/2014/main" id="{C9DA2857-9A49-4F87-B706-2793CC7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C2C8"/>
                </a:solidFill>
              </a:defRPr>
            </a:pPr>
            <a:r>
              <a:rPr sz="1200" b="0">
                <a:solidFill>
                  <a:srgbClr val="A9C2C8"/>
                </a:solidFill>
              </a:rPr>
              <a:t>Structured payment references</a:t>
            </a:r>
          </a:p>
        </p:txBody>
      </p:sp>
      <p:sp>
        <p:nvSpPr>
          <p:cNvPr id="20" name="s4-batch">
            <a:extLst xmlns:a="http://schemas.openxmlformats.org/drawingml/2006/main">
              <a:ext uri="{FF2B5EF4-FFF2-40B4-BE49-F238E27FC236}">
                <a16:creationId xmlns:a16="http://schemas.microsoft.com/office/drawing/2014/main" id="{9DA1C6C5-3D2C-412C-A1CC-E63B064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21" name="s4-batch-title">
            <a:extLst xmlns:a="http://schemas.openxmlformats.org/drawingml/2006/main">
              <a:ext uri="{FF2B5EF4-FFF2-40B4-BE49-F238E27FC236}">
                <a16:creationId xmlns:a16="http://schemas.microsoft.com/office/drawing/2014/main" id="{87EF5FAE-85E3-4BA7-94C4-5B8570A5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Multicall3From</a:t>
            </a:r>
          </a:p>
        </p:txBody>
      </p:sp>
      <p:sp>
        <p:nvSpPr>
          <p:cNvPr id="22" name="s4-batch-body">
            <a:extLst xmlns:a="http://schemas.openxmlformats.org/drawingml/2006/main">
              <a:ext uri="{FF2B5EF4-FFF2-40B4-BE49-F238E27FC236}">
                <a16:creationId xmlns:a16="http://schemas.microsoft.com/office/drawing/2014/main" id="{9548650D-67A2-49F5-852E-5A4BCC14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C2C8"/>
                </a:solidFill>
              </a:defRPr>
            </a:pPr>
            <a:r>
              <a:rPr sz="1200" b="0">
                <a:solidFill>
                  <a:srgbClr val="A9C2C8"/>
                </a:solidFill>
              </a:rPr>
              <a:t>Sender-preserving batch USDC</a:t>
            </a:r>
          </a:p>
        </p:txBody>
      </p:sp>
      <p:sp>
        <p:nvSpPr>
          <p:cNvPr id="23" name="s4-id">
            <a:extLst xmlns:a="http://schemas.openxmlformats.org/drawingml/2006/main">
              <a:ext uri="{FF2B5EF4-FFF2-40B4-BE49-F238E27FC236}">
                <a16:creationId xmlns:a16="http://schemas.microsoft.com/office/drawing/2014/main" id="{FA0E9F62-18C8-4FBF-B3BD-D28BB94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24450"/>
            <a:ext cx="3810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24" name="s4-id-title">
            <a:extLst xmlns:a="http://schemas.openxmlformats.org/drawingml/2006/main">
              <a:ext uri="{FF2B5EF4-FFF2-40B4-BE49-F238E27FC236}">
                <a16:creationId xmlns:a16="http://schemas.microsoft.com/office/drawing/2014/main" id="{7FAD8FAB-0481-40D9-8EA8-6F654BA7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57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ERC-8004 Identity</a:t>
            </a:r>
          </a:p>
        </p:txBody>
      </p:sp>
      <p:sp>
        <p:nvSpPr>
          <p:cNvPr id="25" name="s4-id-body">
            <a:extLst xmlns:a="http://schemas.openxmlformats.org/drawingml/2006/main">
              <a:ext uri="{FF2B5EF4-FFF2-40B4-BE49-F238E27FC236}">
                <a16:creationId xmlns:a16="http://schemas.microsoft.com/office/drawing/2014/main" id="{26835389-78D5-46E4-AE9B-759694F9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435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C2C8"/>
                </a:solidFill>
              </a:defRPr>
            </a:pPr>
            <a:r>
              <a:rPr sz="1200" b="0">
                <a:solidFill>
                  <a:srgbClr val="A9C2C8"/>
                </a:solidFill>
              </a:rPr>
              <a:t>Official registry · Agent ID 851421</a:t>
            </a:r>
          </a:p>
        </p:txBody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01CFB42-A039-4951-BBBD-C12CB53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ENCODE CHECKPOINT 2 · ARC TESTNET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09F6292-B622-41F8-AB52-9F96B26C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7762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5">
            <a:extLst xmlns:a="http://schemas.openxmlformats.org/drawingml/2006/main">
              <a:ext uri="{FF2B5EF4-FFF2-40B4-BE49-F238E27FC236}">
                <a16:creationId xmlns:a16="http://schemas.microsoft.com/office/drawing/2014/main" id="{9611568D-E711-4C32-A725-A006C7BE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VERIFIED PROGRESS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78F97BA-1627-4BEC-A4A6-866B24DA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Public evidence proves the MVP is working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7D6A5A3-1E3F-49CE-AC86-2D34C211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5-stat1">
            <a:extLst xmlns:a="http://schemas.openxmlformats.org/drawingml/2006/main">
              <a:ext uri="{FF2B5EF4-FFF2-40B4-BE49-F238E27FC236}">
                <a16:creationId xmlns:a16="http://schemas.microsoft.com/office/drawing/2014/main" id="{B85DE62E-D3AC-47CE-A726-AC01843F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55E0D3"/>
                </a:solidFill>
              </a:defRPr>
            </a:pPr>
            <a:r>
              <a:rPr sz="4050" b="1">
                <a:solidFill>
                  <a:srgbClr val="55E0D3"/>
                </a:solidFill>
              </a:rPr>
              <a:t>0.01</a:t>
            </a:r>
          </a:p>
        </p:txBody>
      </p:sp>
      <p:sp>
        <p:nvSpPr>
          <p:cNvPr id="5" name="s5-stat1-unit">
            <a:extLst xmlns:a="http://schemas.openxmlformats.org/drawingml/2006/main">
              <a:ext uri="{FF2B5EF4-FFF2-40B4-BE49-F238E27FC236}">
                <a16:creationId xmlns:a16="http://schemas.microsoft.com/office/drawing/2014/main" id="{28312124-EECF-4E1C-8205-A36E38D1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812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USDC</a:t>
            </a:r>
          </a:p>
        </p:txBody>
      </p:sp>
      <p:sp>
        <p:nvSpPr>
          <p:cNvPr id="6" name="s5-stat1-desc">
            <a:extLst xmlns:a="http://schemas.openxmlformats.org/drawingml/2006/main">
              <a:ext uri="{FF2B5EF4-FFF2-40B4-BE49-F238E27FC236}">
                <a16:creationId xmlns:a16="http://schemas.microsoft.com/office/drawing/2014/main" id="{AB128CA6-48A7-4D1A-8632-B3EF9B3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Real Circle App Kit Send</a:t>
            </a:r>
          </a:p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confirmed on Arc Testnet</a:t>
            </a:r>
          </a:p>
        </p:txBody>
      </p:sp>
      <p:sp>
        <p:nvSpPr>
          <p:cNvPr id="7" name="s5-stat2">
            <a:extLst xmlns:a="http://schemas.openxmlformats.org/drawingml/2006/main">
              <a:ext uri="{FF2B5EF4-FFF2-40B4-BE49-F238E27FC236}">
                <a16:creationId xmlns:a16="http://schemas.microsoft.com/office/drawing/2014/main" id="{2A4B0780-B1F3-4011-8810-0FAC779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55E0D3"/>
                </a:solidFill>
              </a:defRPr>
            </a:pPr>
            <a:r>
              <a:rPr sz="4050" b="1">
                <a:solidFill>
                  <a:srgbClr val="55E0D3"/>
                </a:solidFill>
              </a:rPr>
              <a:t>851421</a:t>
            </a:r>
          </a:p>
        </p:txBody>
      </p:sp>
      <p:sp>
        <p:nvSpPr>
          <p:cNvPr id="8" name="s5-stat2-desc">
            <a:extLst xmlns:a="http://schemas.openxmlformats.org/drawingml/2006/main">
              <a:ext uri="{FF2B5EF4-FFF2-40B4-BE49-F238E27FC236}">
                <a16:creationId xmlns:a16="http://schemas.microsoft.com/office/drawing/2014/main" id="{49E3006C-1895-46A9-862E-C1825DBB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ERC-8004 Agent ID</a:t>
            </a:r>
          </a:p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owned by the project wallet</a:t>
            </a:r>
          </a:p>
        </p:txBody>
      </p:sp>
      <p:sp>
        <p:nvSpPr>
          <p:cNvPr id="9" name="s5-stat3">
            <a:extLst xmlns:a="http://schemas.openxmlformats.org/drawingml/2006/main">
              <a:ext uri="{FF2B5EF4-FFF2-40B4-BE49-F238E27FC236}">
                <a16:creationId xmlns:a16="http://schemas.microsoft.com/office/drawing/2014/main" id="{6ED9E35D-83D4-48A3-BDB0-66BA007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55E0D3"/>
                </a:solidFill>
              </a:defRPr>
            </a:pPr>
            <a:r>
              <a:rPr sz="4050" b="1">
                <a:solidFill>
                  <a:srgbClr val="55E0D3"/>
                </a:solidFill>
              </a:rPr>
              <a:t>27/27</a:t>
            </a:r>
          </a:p>
        </p:txBody>
      </p:sp>
      <p:sp>
        <p:nvSpPr>
          <p:cNvPr id="10" name="s5-stat3-desc">
            <a:extLst xmlns:a="http://schemas.openxmlformats.org/drawingml/2006/main">
              <a:ext uri="{FF2B5EF4-FFF2-40B4-BE49-F238E27FC236}">
                <a16:creationId xmlns:a16="http://schemas.microsoft.com/office/drawing/2014/main" id="{CDA9B59C-03A2-45FF-BCDD-24A05CC4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Automated tests passing</a:t>
            </a:r>
          </a:p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plus a successful production build</a:t>
            </a:r>
          </a:p>
        </p:txBody>
      </p:sp>
      <p:sp>
        <p:nvSpPr>
          <p:cNvPr id="11" name="s5-tx-panel">
            <a:extLst xmlns:a="http://schemas.openxmlformats.org/drawingml/2006/main">
              <a:ext uri="{FF2B5EF4-FFF2-40B4-BE49-F238E27FC236}">
                <a16:creationId xmlns:a16="http://schemas.microsoft.com/office/drawing/2014/main" id="{89D76BE1-1215-4852-9810-7364639A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52197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D3039"/>
          </a:solidFill>
          <a:ln xmlns:a="http://schemas.openxmlformats.org/drawingml/2006/main" w="9525">
            <a:solidFill>
              <a:srgbClr val="27505A"/>
            </a:solidFill>
            <a:prstDash val="solid"/>
          </a:ln>
        </p:spPr>
      </p:sp>
      <p:sp>
        <p:nvSpPr>
          <p:cNvPr id="12" name="s5-tx-label">
            <a:extLst xmlns:a="http://schemas.openxmlformats.org/drawingml/2006/main">
              <a:ext uri="{FF2B5EF4-FFF2-40B4-BE49-F238E27FC236}">
                <a16:creationId xmlns:a16="http://schemas.microsoft.com/office/drawing/2014/main" id="{5F054387-9180-4EB2-9097-43FE2D4A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CHAIN EVIDENCE</a:t>
            </a:r>
          </a:p>
        </p:txBody>
      </p:sp>
      <p:sp>
        <p:nvSpPr>
          <p:cNvPr id="13" name="s5-tx1-title">
            <a:extLst xmlns:a="http://schemas.openxmlformats.org/drawingml/2006/main">
              <a:ext uri="{FF2B5EF4-FFF2-40B4-BE49-F238E27FC236}">
                <a16:creationId xmlns:a16="http://schemas.microsoft.com/office/drawing/2014/main" id="{204532CD-FBE9-4C5A-A199-8C09B30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App Kit Send</a:t>
            </a:r>
          </a:p>
        </p:txBody>
      </p:sp>
      <p:sp>
        <p:nvSpPr>
          <p:cNvPr id="14" name="s5-tx1">
            <a:extLst xmlns:a="http://schemas.openxmlformats.org/drawingml/2006/main">
              <a:ext uri="{FF2B5EF4-FFF2-40B4-BE49-F238E27FC236}">
                <a16:creationId xmlns:a16="http://schemas.microsoft.com/office/drawing/2014/main" id="{9ED63D40-277C-4EA1-8723-C3B8F13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19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0x6a46…1d572</a:t>
            </a:r>
          </a:p>
        </p:txBody>
      </p:sp>
      <p:sp>
        <p:nvSpPr>
          <p:cNvPr id="15" name="s5-tx2-title">
            <a:extLst xmlns:a="http://schemas.openxmlformats.org/drawingml/2006/main">
              <a:ext uri="{FF2B5EF4-FFF2-40B4-BE49-F238E27FC236}">
                <a16:creationId xmlns:a16="http://schemas.microsoft.com/office/drawing/2014/main" id="{B5EE3B0C-444B-4ABA-891B-B975955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ERC-8004</a:t>
            </a:r>
          </a:p>
        </p:txBody>
      </p:sp>
      <p:sp>
        <p:nvSpPr>
          <p:cNvPr id="16" name="s5-tx2">
            <a:extLst xmlns:a="http://schemas.openxmlformats.org/drawingml/2006/main">
              <a:ext uri="{FF2B5EF4-FFF2-40B4-BE49-F238E27FC236}">
                <a16:creationId xmlns:a16="http://schemas.microsoft.com/office/drawing/2014/main" id="{314513BB-24ED-439E-930F-349356B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38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0xe8b2…e490</a:t>
            </a:r>
          </a:p>
        </p:txBody>
      </p:sp>
      <p:sp>
        <p:nvSpPr>
          <p:cNvPr id="17" name="s5-tx3-title">
            <a:extLst xmlns:a="http://schemas.openxmlformats.org/drawingml/2006/main">
              <a:ext uri="{FF2B5EF4-FFF2-40B4-BE49-F238E27FC236}">
                <a16:creationId xmlns:a16="http://schemas.microsoft.com/office/drawing/2014/main" id="{685481B2-FEFE-4DE5-9F4D-728603E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Identity Registry</a:t>
            </a:r>
          </a:p>
        </p:txBody>
      </p:sp>
      <p:sp>
        <p:nvSpPr>
          <p:cNvPr id="18" name="s5-tx3">
            <a:extLst xmlns:a="http://schemas.openxmlformats.org/drawingml/2006/main">
              <a:ext uri="{FF2B5EF4-FFF2-40B4-BE49-F238E27FC236}">
                <a16:creationId xmlns:a16="http://schemas.microsoft.com/office/drawing/2014/main" id="{90E78199-5611-4A7E-BB6B-6C1331B9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0x8004…BD9e</a:t>
            </a:r>
          </a:p>
        </p:txBody>
      </p:sp>
      <p:sp>
        <p:nvSpPr>
          <p:cNvPr id="19" name="s5-tx-note">
            <a:extLst xmlns:a="http://schemas.openxmlformats.org/drawingml/2006/main">
              <a:ext uri="{FF2B5EF4-FFF2-40B4-BE49-F238E27FC236}">
                <a16:creationId xmlns:a16="http://schemas.microsoft.com/office/drawing/2014/main" id="{ED282890-E311-49F4-8F86-8E72FA8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E2A5"/>
                </a:solidFill>
              </a:defRPr>
            </a:pPr>
            <a:r>
              <a:rPr sz="1200" b="1">
                <a:solidFill>
                  <a:srgbClr val="5DE2A5"/>
                </a:solidFill>
              </a:rPr>
              <a:t>Receipts, ownership, and tokenURI are documented in the public README.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2202fedf24219"/>
          <a:srcRect xmlns:a="http://schemas.openxmlformats.org/drawingml/2006/main" l="0" t="4790" r="0" b="4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3429000"/>
            <a:ext cx="5048250" cy="23622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21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2CEA0480-2437-4A71-AC21-57DDE1F0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ENCODE CHECKPOINT 2 · ARC TESTNET</a:t>
            </a:r>
          </a:p>
        </p:txBody>
      </p:sp>
      <p:sp>
        <p:nvSpPr>
          <p:cNvPr id="2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7524ADD-786B-489D-B4BA-B2F04D9E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3293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A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6">
            <a:extLst xmlns:a="http://schemas.openxmlformats.org/drawingml/2006/main">
              <a:ext uri="{FF2B5EF4-FFF2-40B4-BE49-F238E27FC236}">
                <a16:creationId xmlns:a16="http://schemas.microsoft.com/office/drawing/2014/main" id="{4CDECFFB-225B-44CB-A7F4-2632E4DD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CHECKPOINT 2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1518972-BB07-43F1-B1B4-99C516CA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BFC"/>
                </a:solidFill>
              </a:defRPr>
            </a:pPr>
            <a:r>
              <a:rPr sz="3150" b="1">
                <a:solidFill>
                  <a:srgbClr val="F5FBFC"/>
                </a:solidFill>
              </a:rPr>
              <a:t>The core works; next is reviewer-ready packaging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EBC5D0D-88A2-4308-8C2D-7994B4F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6-done-label">
            <a:extLst xmlns:a="http://schemas.openxmlformats.org/drawingml/2006/main">
              <a:ext uri="{FF2B5EF4-FFF2-40B4-BE49-F238E27FC236}">
                <a16:creationId xmlns:a16="http://schemas.microsoft.com/office/drawing/2014/main" id="{0620B79F-454D-4773-9AD2-99D0DEE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E2A5"/>
                </a:solidFill>
              </a:defRPr>
            </a:pPr>
            <a:r>
              <a:rPr sz="1200" b="1">
                <a:solidFill>
                  <a:srgbClr val="5DE2A5"/>
                </a:solidFill>
              </a:rPr>
              <a:t>COMPLETED</a:t>
            </a:r>
          </a:p>
        </p:txBody>
      </p:sp>
      <p:sp>
        <p:nvSpPr>
          <p:cNvPr id="5" name="s6-done-1">
            <a:extLst xmlns:a="http://schemas.openxmlformats.org/drawingml/2006/main">
              <a:ext uri="{FF2B5EF4-FFF2-40B4-BE49-F238E27FC236}">
                <a16:creationId xmlns:a16="http://schemas.microsoft.com/office/drawing/2014/main" id="{DADBE97C-C94D-4CF5-85A2-8970384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01  Policy-gated browser MVP</a:t>
            </a:r>
          </a:p>
        </p:txBody>
      </p:sp>
      <p:sp>
        <p:nvSpPr>
          <p:cNvPr id="6" name="s6-done-2">
            <a:extLst xmlns:a="http://schemas.openxmlformats.org/drawingml/2006/main">
              <a:ext uri="{FF2B5EF4-FFF2-40B4-BE49-F238E27FC236}">
                <a16:creationId xmlns:a16="http://schemas.microsoft.com/office/drawing/2014/main" id="{EFA18017-4DED-4307-85E3-C509908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02  Real App Kit Send evidence</a:t>
            </a:r>
          </a:p>
        </p:txBody>
      </p:sp>
      <p:sp>
        <p:nvSpPr>
          <p:cNvPr id="7" name="s6-done-3">
            <a:extLst xmlns:a="http://schemas.openxmlformats.org/drawingml/2006/main">
              <a:ext uri="{FF2B5EF4-FFF2-40B4-BE49-F238E27FC236}">
                <a16:creationId xmlns:a16="http://schemas.microsoft.com/office/drawing/2014/main" id="{694D3CD2-76B6-4342-8CF1-9D68A910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03  ERC-8004 onchain identity</a:t>
            </a:r>
          </a:p>
        </p:txBody>
      </p:sp>
      <p:sp>
        <p:nvSpPr>
          <p:cNvPr id="8" name="s6-done-4">
            <a:extLst xmlns:a="http://schemas.openxmlformats.org/drawingml/2006/main">
              <a:ext uri="{FF2B5EF4-FFF2-40B4-BE49-F238E27FC236}">
                <a16:creationId xmlns:a16="http://schemas.microsoft.com/office/drawing/2014/main" id="{B5B68C6B-BAC1-4E08-8F80-D052331D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04  Public tests and build</a:t>
            </a:r>
          </a:p>
        </p:txBody>
      </p:sp>
      <p:sp>
        <p:nvSpPr>
          <p:cNvPr id="9" name="s6-mid-rule">
            <a:extLst xmlns:a="http://schemas.openxmlformats.org/drawingml/2006/main">
              <a:ext uri="{FF2B5EF4-FFF2-40B4-BE49-F238E27FC236}">
                <a16:creationId xmlns:a16="http://schemas.microsoft.com/office/drawing/2014/main" id="{B0F31902-D6A7-4148-9E63-892EB3C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19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next-label">
            <a:extLst xmlns:a="http://schemas.openxmlformats.org/drawingml/2006/main">
              <a:ext uri="{FF2B5EF4-FFF2-40B4-BE49-F238E27FC236}">
                <a16:creationId xmlns:a16="http://schemas.microsoft.com/office/drawing/2014/main" id="{212B7D58-BC94-405C-82D6-7DF80103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E0D3"/>
                </a:solidFill>
              </a:defRPr>
            </a:pPr>
            <a:r>
              <a:rPr sz="1200" b="1">
                <a:solidFill>
                  <a:srgbClr val="55E0D3"/>
                </a:solidFill>
              </a:rPr>
              <a:t>NEXT</a:t>
            </a:r>
          </a:p>
        </p:txBody>
      </p:sp>
      <p:sp>
        <p:nvSpPr>
          <p:cNvPr id="11" name="s6-next-1">
            <a:extLst xmlns:a="http://schemas.openxmlformats.org/drawingml/2006/main">
              <a:ext uri="{FF2B5EF4-FFF2-40B4-BE49-F238E27FC236}">
                <a16:creationId xmlns:a16="http://schemas.microsoft.com/office/drawing/2014/main" id="{06F2225C-E422-4599-A30A-80BE32A1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01  Tighten the reviewer demo</a:t>
            </a:r>
          </a:p>
        </p:txBody>
      </p:sp>
      <p:sp>
        <p:nvSpPr>
          <p:cNvPr id="12" name="s6-next-2">
            <a:extLst xmlns:a="http://schemas.openxmlformats.org/drawingml/2006/main">
              <a:ext uri="{FF2B5EF4-FFF2-40B4-BE49-F238E27FC236}">
                <a16:creationId xmlns:a16="http://schemas.microsoft.com/office/drawing/2014/main" id="{C966DB24-187B-40AB-92FE-72E2596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02  Add a compact activity log</a:t>
            </a:r>
          </a:p>
        </p:txBody>
      </p:sp>
      <p:sp>
        <p:nvSpPr>
          <p:cNvPr id="13" name="s6-next-3">
            <a:extLst xmlns:a="http://schemas.openxmlformats.org/drawingml/2006/main">
              <a:ext uri="{FF2B5EF4-FFF2-40B4-BE49-F238E27FC236}">
                <a16:creationId xmlns:a16="http://schemas.microsoft.com/office/drawing/2014/main" id="{DA0865BE-F2B0-4B7E-9BC0-A6BDF9F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BFC"/>
                </a:solidFill>
              </a:defRPr>
            </a:pPr>
            <a:r>
              <a:rPr sz="1725" b="1">
                <a:solidFill>
                  <a:srgbClr val="F5FBFC"/>
                </a:solidFill>
              </a:rPr>
              <a:t>03  Package the final submission</a:t>
            </a:r>
          </a:p>
        </p:txBody>
      </p:sp>
      <p:sp>
        <p:nvSpPr>
          <p:cNvPr id="14" name="s6-next-note">
            <a:extLst xmlns:a="http://schemas.openxmlformats.org/drawingml/2006/main">
              <a:ext uri="{FF2B5EF4-FFF2-40B4-BE49-F238E27FC236}">
                <a16:creationId xmlns:a16="http://schemas.microsoft.com/office/drawing/2014/main" id="{7B0EB1E3-B39D-4049-8123-FE875D88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2C8"/>
                </a:solidFill>
              </a:defRPr>
            </a:pPr>
            <a:r>
              <a:rPr sz="1350" b="0">
                <a:solidFill>
                  <a:srgbClr val="A9C2C8"/>
                </a:solidFill>
              </a:rPr>
              <a:t>No extra transactions without a product or programme requirement.</a:t>
            </a:r>
          </a:p>
        </p:txBody>
      </p:sp>
      <p:sp>
        <p:nvSpPr>
          <p:cNvPr id="15" name="s6-link-panel">
            <a:extLst xmlns:a="http://schemas.openxmlformats.org/drawingml/2006/main">
              <a:ext uri="{FF2B5EF4-FFF2-40B4-BE49-F238E27FC236}">
                <a16:creationId xmlns:a16="http://schemas.microsoft.com/office/drawing/2014/main" id="{5C517D0B-2F9C-4E0E-8EE5-4261C1D3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477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3942"/>
          </a:solidFill>
          <a:ln xmlns:a="http://schemas.openxmlformats.org/drawingml/2006/main" w="9525">
            <a:solidFill>
              <a:srgbClr val="12BFD0"/>
            </a:solidFill>
            <a:prstDash val="solid"/>
          </a:ln>
        </p:spPr>
      </p:sp>
      <p:sp>
        <p:nvSpPr>
          <p:cNvPr id="16" name="s6-link-title">
            <a:extLst xmlns:a="http://schemas.openxmlformats.org/drawingml/2006/main">
              <a:ext uri="{FF2B5EF4-FFF2-40B4-BE49-F238E27FC236}">
                <a16:creationId xmlns:a16="http://schemas.microsoft.com/office/drawing/2014/main" id="{1B18155C-E35C-49D8-8C07-A62BE43C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998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0D3"/>
                </a:solidFill>
              </a:defRPr>
            </a:pPr>
            <a:r>
              <a:rPr sz="1125" b="1">
                <a:solidFill>
                  <a:srgbClr val="55E0D3"/>
                </a:solidFill>
              </a:rPr>
              <a:t>REVIEW THE WORKING EVIDENCE</a:t>
            </a:r>
          </a:p>
        </p:txBody>
      </p:sp>
      <p:sp>
        <p:nvSpPr>
          <p:cNvPr id="17" name="s6-github">
            <a:extLst xmlns:a="http://schemas.openxmlformats.org/drawingml/2006/main">
              <a:ext uri="{FF2B5EF4-FFF2-40B4-BE49-F238E27FC236}">
                <a16:creationId xmlns:a16="http://schemas.microsoft.com/office/drawing/2014/main" id="{B4E58EED-017A-4CA2-86B2-DD090137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github.com/kenvin-maker/arc-testnet-memo</a:t>
            </a:r>
          </a:p>
        </p:txBody>
      </p:sp>
      <p:sp>
        <p:nvSpPr>
          <p:cNvPr id="18" name="s6-demo">
            <a:extLst xmlns:a="http://schemas.openxmlformats.org/drawingml/2006/main">
              <a:ext uri="{FF2B5EF4-FFF2-40B4-BE49-F238E27FC236}">
                <a16:creationId xmlns:a16="http://schemas.microsoft.com/office/drawing/2014/main" id="{F4E055C1-7E3F-444E-AF85-8875BCFE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C"/>
                </a:solidFill>
              </a:defRPr>
            </a:pPr>
            <a:r>
              <a:rPr sz="1500" b="1">
                <a:solidFill>
                  <a:srgbClr val="F5FBFC"/>
                </a:solidFill>
              </a:rPr>
              <a:t>youtube.com/watch?v=3jFuRj20a8g</a:t>
            </a:r>
          </a:p>
        </p:txBody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3FB8BE1D-093B-48A7-B3CD-62476E4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C2C8"/>
                </a:solidFill>
              </a:defRPr>
            </a:pPr>
            <a:r>
              <a:rPr sz="900" b="1">
                <a:solidFill>
                  <a:srgbClr val="A9C2C8"/>
                </a:solidFill>
              </a:rPr>
              <a:t>AGENTTREASURY LITE · BUILDING ON ARC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A5A8EA0-F43F-4447-9DEB-E1A535B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E0D3"/>
                </a:solidFill>
              </a:defRPr>
            </a:pPr>
            <a:r>
              <a:rPr sz="900" b="1">
                <a:solidFill>
                  <a:srgbClr val="55E0D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1727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2026-07-20T21:23:32.6780000Z</dcterms:created>
  <dcterms:modified xsi:type="dcterms:W3CDTF">2026-07-20T21:23:32.6780000Z</dcterms:modified>
</coreProperties>
</file>